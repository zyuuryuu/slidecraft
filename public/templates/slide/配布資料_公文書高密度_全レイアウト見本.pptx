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77440"/>
            <a:ext cx="8534095" cy="1280160"/>
          </a:xfrm>
        </p:spPr>
        <p:txBody>
          <a:bodyPr anchor="ctr"/>
          <a:lstStyle>
            <a:lvl1pPr algn="ctr">
              <a:defRPr sz="32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60520"/>
            <a:ext cx="8534095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ctr" indent="0" marL="0">
              <a:buNone/>
              <a:defRPr sz="1400" b="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20" name="docnumframe"/>
          <p:cNvSpPr/>
          <p:nvPr/>
        </p:nvSpPr>
        <p:spPr>
          <a:xfrm>
            <a:off x="10180015" y="41148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421" name="資料番号"/>
          <p:cNvSpPr>
            <a:spLocks noGrp="1"/>
          </p:cNvSpPr>
          <p:nvPr>
            <p:ph type="body" sz="quarter" idx="13"/>
          </p:nvPr>
        </p:nvSpPr>
        <p:spPr>
          <a:xfrm>
            <a:off x="10180015" y="411480"/>
            <a:ext cx="1463040" cy="502920"/>
          </a:xfrm>
        </p:spPr>
        <p:txBody>
          <a:bodyPr anchor="ctr"/>
          <a:lstStyle>
            <a:lvl1pPr algn="ctr" marL="0" indent="0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ja-JP"/>
              <a:t>資料１</a:t>
            </a:r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1828800" y="5394960"/>
            <a:ext cx="8534095" cy="91440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000000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日付 / 部署 / 作成者</a:t>
            </a:r>
          </a:p>
        </p:txBody>
      </p:sp>
      <p:sp>
        <p:nvSpPr>
          <p:cNvPr id="710" name="titleframe_outer"/>
          <p:cNvSpPr/>
          <p:nvPr/>
        </p:nvSpPr>
        <p:spPr>
          <a:xfrm>
            <a:off x="1554480" y="2148840"/>
            <a:ext cx="9082735" cy="173736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</p:sp>
      <p:sp>
        <p:nvSpPr>
          <p:cNvPr id="711" name="titleframe_inner"/>
          <p:cNvSpPr/>
          <p:nvPr/>
        </p:nvSpPr>
        <p:spPr>
          <a:xfrm>
            <a:off x="1627632" y="2221992"/>
            <a:ext cx="8936431" cy="1591056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</p:sp>
      <p:sp>
        <p:nvSpPr>
          <p:cNvPr id="712" name="会議名"/>
          <p:cNvSpPr>
            <a:spLocks noGrp="1"/>
          </p:cNvSpPr>
          <p:nvPr>
            <p:ph type="body" sz="quarter" idx="15"/>
          </p:nvPr>
        </p:nvSpPr>
        <p:spPr>
          <a:xfrm>
            <a:off x="457200" y="411480"/>
            <a:ext cx="6400800" cy="457200"/>
          </a:xfrm>
        </p:spPr>
        <p:txBody>
          <a:bodyPr anchor="ctr"/>
          <a:lstStyle>
            <a:lvl1pPr algn="l" marL="0" indent="0">
              <a:buNone/>
              <a:defRPr sz="1300" b="0">
                <a:solidFill>
                  <a:srgbClr val="000000"/>
                </a:solidFill>
              </a:defRPr>
            </a:lvl1pPr>
          </a:lstStyle>
          <a:p>
            <a:r>
              <a:rPr lang="ja-JP"/>
              <a:t>第○回 ○○検討会 資料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３ブロック）">
  <p:cSld name="02_本文（３ブロック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  <p:sp>
        <p:nvSpPr>
          <p:cNvPr id="810" name="blocktick0"/>
          <p:cNvSpPr/>
          <p:nvPr/>
        </p:nvSpPr>
        <p:spPr>
          <a:xfrm>
            <a:off x="457200" y="1078992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3" name="小見出し1"/>
          <p:cNvSpPr>
            <a:spLocks noGrp="1"/>
          </p:cNvSpPr>
          <p:nvPr>
            <p:ph type="body" sz="quarter" idx="13"/>
          </p:nvPr>
        </p:nvSpPr>
        <p:spPr>
          <a:xfrm>
            <a:off x="640080" y="1051560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（1）小見出し</a:t>
            </a:r>
          </a:p>
        </p:txBody>
      </p:sp>
      <p:sp>
        <p:nvSpPr>
          <p:cNvPr id="816" name="本文1"/>
          <p:cNvSpPr>
            <a:spLocks noGrp="1"/>
          </p:cNvSpPr>
          <p:nvPr>
            <p:ph type="body" sz="quarter" idx="14"/>
          </p:nvPr>
        </p:nvSpPr>
        <p:spPr>
          <a:xfrm>
            <a:off x="640080" y="1380744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本文を記入（10.5pt・詰め）</a:t>
            </a:r>
          </a:p>
        </p:txBody>
      </p:sp>
      <p:sp>
        <p:nvSpPr>
          <p:cNvPr id="811" name="blocktick1"/>
          <p:cNvSpPr/>
          <p:nvPr/>
        </p:nvSpPr>
        <p:spPr>
          <a:xfrm>
            <a:off x="457200" y="2743200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4" name="小見出し2"/>
          <p:cNvSpPr>
            <a:spLocks noGrp="1"/>
          </p:cNvSpPr>
          <p:nvPr>
            <p:ph type="body" sz="quarter" idx="15"/>
          </p:nvPr>
        </p:nvSpPr>
        <p:spPr>
          <a:xfrm>
            <a:off x="640080" y="2715768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（2）小見出し</a:t>
            </a:r>
          </a:p>
        </p:txBody>
      </p:sp>
      <p:sp>
        <p:nvSpPr>
          <p:cNvPr id="817" name="本文2"/>
          <p:cNvSpPr>
            <a:spLocks noGrp="1"/>
          </p:cNvSpPr>
          <p:nvPr>
            <p:ph type="body" sz="quarter" idx="16"/>
          </p:nvPr>
        </p:nvSpPr>
        <p:spPr>
          <a:xfrm>
            <a:off x="640080" y="3044952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本文を記入（10.5pt・詰め）</a:t>
            </a:r>
          </a:p>
        </p:txBody>
      </p:sp>
      <p:sp>
        <p:nvSpPr>
          <p:cNvPr id="812" name="blocktick2"/>
          <p:cNvSpPr/>
          <p:nvPr/>
        </p:nvSpPr>
        <p:spPr>
          <a:xfrm>
            <a:off x="457200" y="4407408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5" name="小見出し3"/>
          <p:cNvSpPr>
            <a:spLocks noGrp="1"/>
          </p:cNvSpPr>
          <p:nvPr>
            <p:ph type="body" sz="quarter" idx="17"/>
          </p:nvPr>
        </p:nvSpPr>
        <p:spPr>
          <a:xfrm>
            <a:off x="640080" y="4379976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（3）小見出し</a:t>
            </a:r>
          </a:p>
        </p:txBody>
      </p:sp>
      <p:sp>
        <p:nvSpPr>
          <p:cNvPr id="818" name="本文3"/>
          <p:cNvSpPr>
            <a:spLocks noGrp="1"/>
          </p:cNvSpPr>
          <p:nvPr>
            <p:ph type="body" sz="quarter" idx="18"/>
          </p:nvPr>
        </p:nvSpPr>
        <p:spPr>
          <a:xfrm>
            <a:off x="640080" y="4709160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本文を記入（10.5pt・詰め）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777240"/>
            <a:ext cx="9966960" cy="685800"/>
          </a:xfrm>
        </p:spPr>
        <p:txBody>
          <a:bodyPr anchor="ctr"/>
          <a:lstStyle>
            <a:lvl1pPr algn="l">
              <a:defRPr sz="24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7240"/>
            <a:ext cx="1005840" cy="68580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20" name="dline1"/>
          <p:cNvCxnSpPr/>
          <p:nvPr/>
        </p:nvCxnSpPr>
        <p:spPr>
          <a:xfrm>
            <a:off x="457200" y="1572768"/>
            <a:ext cx="11277295" cy="0"/>
          </a:xfrm>
          <a:prstGeom prst="line">
            <a:avLst/>
          </a:prstGeom>
          <a:ln w="22225">
            <a:solidFill>
              <a:srgbClr val="1F3864"/>
            </a:solidFill>
          </a:ln>
        </p:spPr>
      </p:cxnSp>
      <p:cxnSp>
        <p:nvCxnSpPr>
          <p:cNvPr id="721" name="dline2"/>
          <p:cNvCxnSpPr/>
          <p:nvPr/>
        </p:nvCxnSpPr>
        <p:spPr>
          <a:xfrm>
            <a:off x="457200" y="1664208"/>
            <a:ext cx="11277295" cy="0"/>
          </a:xfrm>
          <a:prstGeom prst="line">
            <a:avLst/>
          </a:prstGeom>
          <a:ln w="6350">
            <a:solidFill>
              <a:srgbClr val="1F3864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サマリと詳細">
  <p:cSld name="03_サマリと詳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1328"/>
            <a:ext cx="10820095" cy="82296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1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06040"/>
            <a:ext cx="11277295" cy="3429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05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  <p:sp>
        <p:nvSpPr>
          <p:cNvPr id="820" name="pointbox"/>
          <p:cNvSpPr/>
          <p:nvPr/>
        </p:nvSpPr>
        <p:spPr>
          <a:xfrm>
            <a:off x="457200" y="1051560"/>
            <a:ext cx="11277295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</p:sp>
      <p:sp>
        <p:nvSpPr>
          <p:cNvPr id="821" name="pointhead"/>
          <p:cNvSpPr/>
          <p:nvPr/>
        </p:nvSpPr>
        <p:spPr>
          <a:xfrm>
            <a:off x="457200" y="1051560"/>
            <a:ext cx="118872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22" name="pointlabel"/>
          <p:cNvSpPr txBox="1"/>
          <p:nvPr/>
        </p:nvSpPr>
        <p:spPr>
          <a:xfrm>
            <a:off x="457200" y="1051560"/>
            <a:ext cx="1188720" cy="384048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ポイント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17294F"/>
                </a:solidFill>
                <a:latin typeface="MS PGothic"/>
                <a:ea typeface="MS PGothic"/>
                <a:cs typeface="MS P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200" b="1">
                <a:solidFill>
                  <a:srgbClr val="1F3864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95959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注記（任意）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457200" y="1097280"/>
            <a:ext cx="7132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7132320" cy="51206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8120" y="1097280"/>
            <a:ext cx="3931920" cy="512064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01" name="codebox"/>
          <p:cNvSpPr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4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640080" y="1280160"/>
            <a:ext cx="10911535" cy="420624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Consolas"/>
                <a:ea typeface="MS PGothic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457200" y="5806440"/>
            <a:ext cx="11277295" cy="502920"/>
          </a:xfrm>
        </p:spPr>
        <p:txBody>
          <a:bodyPr wrap="square" anchor="ctr" lIns="0" rIns="0"/>
          <a:lstStyle>
            <a:lvl1pPr algn="l" marL="0" indent="0">
              <a:buNone/>
              <a:defRPr sz="1000" b="0">
                <a:solidFill>
                  <a:srgbClr val="595959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11277295" cy="5029200"/>
          </a:xfrm>
        </p:spPr>
        <p:txBody>
          <a:bodyPr anchor="t"/>
          <a:lstStyle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457200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5" name="kpicard1"/>
          <p:cNvSpPr/>
          <p:nvPr/>
        </p:nvSpPr>
        <p:spPr>
          <a:xfrm>
            <a:off x="4322978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8" name="kpicard2"/>
          <p:cNvSpPr/>
          <p:nvPr/>
        </p:nvSpPr>
        <p:spPr>
          <a:xfrm>
            <a:off x="8188756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94360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94360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94360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460138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460138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460138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25916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25916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25916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30" name="kpihead0"/>
          <p:cNvSpPr/>
          <p:nvPr/>
        </p:nvSpPr>
        <p:spPr>
          <a:xfrm>
            <a:off x="457200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1" name="kpihead1"/>
          <p:cNvSpPr/>
          <p:nvPr/>
        </p:nvSpPr>
        <p:spPr>
          <a:xfrm>
            <a:off x="4322978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2" name="kpihead2"/>
          <p:cNvSpPr/>
          <p:nvPr/>
        </p:nvSpPr>
        <p:spPr>
          <a:xfrm>
            <a:off x="8188756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457200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card1"/>
          <p:cNvSpPr/>
          <p:nvPr/>
        </p:nvSpPr>
        <p:spPr>
          <a:xfrm>
            <a:off x="4322978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2" name="card2"/>
          <p:cNvSpPr/>
          <p:nvPr/>
        </p:nvSpPr>
        <p:spPr>
          <a:xfrm>
            <a:off x="8188756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640080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505858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371636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40" name="cardhead0"/>
          <p:cNvSpPr/>
          <p:nvPr/>
        </p:nvSpPr>
        <p:spPr>
          <a:xfrm>
            <a:off x="457200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594360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1005840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203" name="cardnum0"/>
          <p:cNvSpPr/>
          <p:nvPr/>
        </p:nvSpPr>
        <p:spPr>
          <a:xfrm>
            <a:off x="594360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1" name="cardhead1"/>
          <p:cNvSpPr/>
          <p:nvPr/>
        </p:nvSpPr>
        <p:spPr>
          <a:xfrm>
            <a:off x="4322978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460138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871618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208" name="cardnum1"/>
          <p:cNvSpPr/>
          <p:nvPr/>
        </p:nvSpPr>
        <p:spPr>
          <a:xfrm>
            <a:off x="4460138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2" name="cardhead2"/>
          <p:cNvSpPr/>
          <p:nvPr/>
        </p:nvSpPr>
        <p:spPr>
          <a:xfrm>
            <a:off x="8188756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325916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737396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213" name="cardnum2"/>
          <p:cNvSpPr/>
          <p:nvPr/>
        </p:nvSpPr>
        <p:spPr>
          <a:xfrm>
            <a:off x="8325916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457200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4" name="arrow0"/>
          <p:cNvSpPr/>
          <p:nvPr/>
        </p:nvSpPr>
        <p:spPr>
          <a:xfrm>
            <a:off x="3114217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33673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arrow1"/>
          <p:cNvSpPr/>
          <p:nvPr/>
        </p:nvSpPr>
        <p:spPr>
          <a:xfrm>
            <a:off x="5990690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10146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0" name="arrow2"/>
          <p:cNvSpPr/>
          <p:nvPr/>
        </p:nvSpPr>
        <p:spPr>
          <a:xfrm>
            <a:off x="8867163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86619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425113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425113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01586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01586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178059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178059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50" name="stephead0"/>
          <p:cNvSpPr/>
          <p:nvPr/>
        </p:nvSpPr>
        <p:spPr>
          <a:xfrm>
            <a:off x="457200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457200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1</a:t>
            </a:r>
          </a:p>
        </p:txBody>
      </p:sp>
      <p:sp>
        <p:nvSpPr>
          <p:cNvPr id="751" name="stephead1"/>
          <p:cNvSpPr/>
          <p:nvPr/>
        </p:nvSpPr>
        <p:spPr>
          <a:xfrm>
            <a:off x="3333673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33673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2</a:t>
            </a:r>
          </a:p>
        </p:txBody>
      </p:sp>
      <p:sp>
        <p:nvSpPr>
          <p:cNvPr id="752" name="stephead2"/>
          <p:cNvSpPr/>
          <p:nvPr/>
        </p:nvSpPr>
        <p:spPr>
          <a:xfrm>
            <a:off x="6210146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10146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3</a:t>
            </a:r>
          </a:p>
        </p:txBody>
      </p:sp>
      <p:sp>
        <p:nvSpPr>
          <p:cNvPr id="753" name="stephead3"/>
          <p:cNvSpPr/>
          <p:nvPr/>
        </p:nvSpPr>
        <p:spPr>
          <a:xfrm>
            <a:off x="9086619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86619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4</a:t>
            </a:r>
          </a:p>
        </p:txBody>
      </p: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論点と対応">
  <p:cSld name="12_論点と対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457200" y="1051560"/>
            <a:ext cx="5486400" cy="4937760"/>
          </a:xfrm>
          <a:prstGeom prst="rect">
            <a:avLst/>
          </a:prstGeom>
          <a:solidFill>
            <a:srgbClr val="EFEFEF"/>
          </a:solidFill>
          <a:ln w="9525">
            <a:solidFill>
              <a:srgbClr val="7F7F7F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245352" y="1051560"/>
            <a:ext cx="5486400" cy="4937760"/>
          </a:xfrm>
          <a:prstGeom prst="rect">
            <a:avLst/>
          </a:prstGeom>
          <a:solidFill>
            <a:srgbClr val="DEEBF7"/>
          </a:solidFill>
          <a:ln w="9525">
            <a:solidFill>
              <a:srgbClr val="7F7F7F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245352" y="1051560"/>
            <a:ext cx="54864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640080" y="1051560"/>
            <a:ext cx="5120640" cy="457200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640080" y="1645920"/>
            <a:ext cx="5120640" cy="4160520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428232" y="1051560"/>
            <a:ext cx="5120640" cy="457200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428232" y="1645920"/>
            <a:ext cx="5120640" cy="4160520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対策を記入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20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19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17294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81447" y="6510528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次世代セキュリティ基盤の整備方針（案）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令和８年度 情報システム整備計画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資料３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令和８年７月１日</a:t>
            </a:r>
          </a:p>
          <a:p>
            <a:r>
              <a:t>○○省 情報政策課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第３回 次世代基盤検討会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背景と課題</a:t>
            </a:r>
          </a:p>
          <a:p>
            <a:r>
              <a:t>整備方針の概要</a:t>
            </a:r>
          </a:p>
          <a:p>
            <a:r>
              <a:t>施策の詳細</a:t>
            </a:r>
          </a:p>
          <a:p>
            <a:r>
              <a:t>スケジュールと予算</a:t>
            </a:r>
          </a:p>
          <a:p>
            <a:r>
              <a:t>今後の進め方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１．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（１）現行システムの老朽化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導入から10年が経過し、保守部品の調達が困難。障害件数は直近3年で約1.8倍に増加しており、業務継続リスクが顕在化している。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（２）セキュリティ要件の高度化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政府統一基準群の改定により、常時監視・ログ長期保存等の要件が追加。現行構成では対応に限界がある。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（３）運用コストの増大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保守費は年率約7%で増加。人員も専任2名体制で属人化が進んでおり、体制面の脆弱性が指摘されている。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整備方針の概要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クラウド活用型の次世代基盤へ段階移行し、セキュリティ監視を一元化。令和10年度までに運用コストを2割削減する。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１．基盤更改：現行オンプレ環境をIaaS/SaaSへ段階移行（令和８〜10年度）</a:t>
            </a:r>
          </a:p>
          <a:p>
            <a:r>
              <a:t>２．監視一元化：SOC機能を集約し、24時間監視体制を整備</a:t>
            </a:r>
          </a:p>
          <a:p>
            <a:r>
              <a:t>３．体制整備：運用手順の標準化と要員育成計画の策定</a:t>
            </a:r>
          </a:p>
          <a:p>
            <a:r>
              <a:t>４．予算：総額○○億円（別紙１参照）。単年度負担の平準化を図る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システム全体構成（案）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まとめと今後の予定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本日ご確認いただきたい事項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整備方針（案）の方向性について</a:t>
            </a:r>
          </a:p>
          <a:p>
            <a:r>
              <a:t>予算規模の妥当性について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次回検討会（８月）までに詳細計画を提示</a:t>
            </a:r>
          </a:p>
          <a:p>
            <a:r>
              <a:t>パブリックコメントを９月に実施予定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定量効果（試算）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運用コスト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▲20%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令和10年度時点・現行比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障害復旧時間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冗長化による短縮効果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（出典）当部試算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次世代基盤整備方針・8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12" name="Text Placeholder 1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次世代基盤整備方針・8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（出典）当部試算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施策の３本柱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クラウドへの段階移行により拡張性と可用性を確保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SOC集約により検知から対処までを迅速化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標準化と育成により属人化を解消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①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基盤更改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②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監視一元化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整備スケジュール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設計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要件定義・調達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構築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移行環境の整備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段階的切替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効果検証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令和８年度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令和９年度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令和10年度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主な論点と対応方針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主な論点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・移行期間中の二重運用コスト</a:t>
            </a:r>
          </a:p>
          <a:p>
            <a:r>
              <a:t>・クラウド障害時の業務継続性</a:t>
            </a:r>
          </a:p>
          <a:p>
            <a:r>
              <a:t>・機密情報の取扱い区分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対応方針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・移行を3段階に分割し重複期間を最小化</a:t>
            </a:r>
          </a:p>
          <a:p>
            <a:r>
              <a:t>・マルチAZ構成とオフライン手順を整備</a:t>
            </a:r>
          </a:p>
          <a:p>
            <a:r>
              <a:t>・情報区分に応じ国内リージョンに限定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（参考）検知ルール例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294F"/>
      </a:dk2>
      <a:lt2>
        <a:srgbClr val="DEEBF7"/>
      </a:lt2>
      <a:accent1>
        <a:srgbClr val="1F3864"/>
      </a:accent1>
      <a:accent2>
        <a:srgbClr val="C00000"/>
      </a:accent2>
      <a:accent3>
        <a:srgbClr val="595959"/>
      </a:accent3>
      <a:accent4>
        <a:srgbClr val="7F7F7F"/>
      </a:accent4>
      <a:accent5>
        <a:srgbClr val="BDD7EE"/>
      </a:accent5>
      <a:accent6>
        <a:srgbClr val="404040"/>
      </a:accent6>
      <a:hlink>
        <a:srgbClr val="0000FF"/>
      </a:hlink>
      <a:folHlink>
        <a:srgbClr val="800080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