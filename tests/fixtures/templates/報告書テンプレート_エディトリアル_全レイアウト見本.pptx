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otif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14000"/>
            </a:avLst>
          </a:prstGeom>
          <a:solidFill>
            <a:srgbClr val="FF4D3D"/>
          </a:solidFill>
          <a:ln>
            <a:noFill/>
          </a:ln>
        </p:spPr>
      </p:sp>
      <p:sp>
        <p:nvSpPr>
          <p:cNvPr id="101" name="motif2"/>
          <p:cNvSpPr/>
          <p:nvPr/>
        </p:nvSpPr>
        <p:spPr>
          <a:xfrm>
            <a:off x="1170432" y="548640"/>
            <a:ext cx="201168" cy="502920"/>
          </a:xfrm>
          <a:prstGeom prst="roundRect">
            <a:avLst>
              <a:gd name="adj" fmla="val 14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2" name="coverline"/>
          <p:cNvCxnSpPr/>
          <p:nvPr/>
        </p:nvCxnSpPr>
        <p:spPr>
          <a:xfrm>
            <a:off x="548640" y="5212080"/>
            <a:ext cx="5943600" cy="0"/>
          </a:xfrm>
          <a:prstGeom prst="line">
            <a:avLst/>
          </a:prstGeom>
          <a:ln w="12700">
            <a:solidFill>
              <a:srgbClr val="FF4D3D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0058400" cy="1463040"/>
          </a:xfrm>
        </p:spPr>
        <p:txBody>
          <a:bodyPr anchor="ctr"/>
          <a:lstStyle>
            <a:lvl1pPr algn="l">
              <a:defRPr sz="4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10058400" cy="73152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800" b="0">
                <a:solidFill>
                  <a:srgbClr val="8A8580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349240"/>
            <a:ext cx="10058400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572000"/>
          </a:xfrm>
        </p:spPr>
        <p:txBody>
          <a:bodyPr anchor="t"/>
          <a:lstStyle>
            <a:lvl1pPr algn="l">
              <a:defRPr sz="16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idebar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101" name="seclabel"/>
          <p:cNvSpPr txBox="1"/>
          <p:nvPr/>
        </p:nvSpPr>
        <p:spPr>
          <a:xfrm>
            <a:off x="411480" y="1965960"/>
            <a:ext cx="2651760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300" b="1">
                <a:solidFill>
                  <a:srgbClr val="F1EAE0"/>
                </a:solidFill>
                <a:latin typeface="Yu Gothic"/>
                <a:ea typeface="Yu Gothic"/>
                <a:cs typeface="Yu Gothic"/>
              </a:rPr>
              <a:t>SECTION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2651760"/>
            <a:ext cx="7863840" cy="1463040"/>
          </a:xfrm>
        </p:spPr>
        <p:txBody>
          <a:bodyPr anchor="ctr"/>
          <a:lstStyle>
            <a:lvl1pPr algn="l">
              <a:defRPr sz="32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2377440"/>
            <a:ext cx="2651760" cy="128016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7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F1EAE0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21201E"/>
                </a:solidFill>
                <a:latin typeface="Yu Gothic"/>
                <a:ea typeface="Yu Gothic"/>
                <a:cs typeface="Yu 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注記（任意）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F1EAE0"/>
          </a:solidFill>
          <a:ln w="9525">
            <a:solidFill>
              <a:srgbClr val="D8D2C8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76656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1554480"/>
            <a:ext cx="4023360" cy="457200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548640" y="1554480"/>
            <a:ext cx="11094415" cy="4114800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777240" y="1737360"/>
            <a:ext cx="10637215" cy="374904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F5EFE5"/>
                </a:solidFill>
                <a:latin typeface="Consolas"/>
                <a:ea typeface="Yu Gothic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548640" y="5806440"/>
            <a:ext cx="11094415" cy="502920"/>
          </a:xfrm>
        </p:spPr>
        <p:txBody>
          <a:bodyPr wrap="square" anchor="ctr" lIns="0" rIns="0"/>
          <a:lstStyle>
            <a:lvl1pPr algn="l" marL="0" indent="0">
              <a:buNone/>
              <a:defRPr sz="1100" b="0">
                <a:solidFill>
                  <a:srgbClr val="8A8580"/>
                </a:solidFill>
                <a:latin typeface="Yu Gothic"/>
                <a:ea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548640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F1EAE0"/>
          </a:solidFill>
          <a:ln>
            <a:noFill/>
          </a:ln>
        </p:spPr>
      </p:sp>
      <p:sp>
        <p:nvSpPr>
          <p:cNvPr id="203" name="kpidot0"/>
          <p:cNvSpPr/>
          <p:nvPr/>
        </p:nvSpPr>
        <p:spPr>
          <a:xfrm>
            <a:off x="2111197" y="2286000"/>
            <a:ext cx="329184" cy="329184"/>
          </a:xfrm>
          <a:prstGeom prst="ellipse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205" name="kpicard1"/>
          <p:cNvSpPr/>
          <p:nvPr/>
        </p:nvSpPr>
        <p:spPr>
          <a:xfrm>
            <a:off x="4368698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F1EAE0"/>
          </a:solidFill>
          <a:ln>
            <a:noFill/>
          </a:ln>
        </p:spPr>
      </p:sp>
      <p:sp>
        <p:nvSpPr>
          <p:cNvPr id="206" name="kpidot1"/>
          <p:cNvSpPr/>
          <p:nvPr/>
        </p:nvSpPr>
        <p:spPr>
          <a:xfrm>
            <a:off x="5931255" y="2286000"/>
            <a:ext cx="329184" cy="329184"/>
          </a:xfrm>
          <a:prstGeom prst="ellipse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208" name="kpicard2"/>
          <p:cNvSpPr/>
          <p:nvPr/>
        </p:nvSpPr>
        <p:spPr>
          <a:xfrm>
            <a:off x="8188756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F1EAE0"/>
          </a:solidFill>
          <a:ln>
            <a:noFill/>
          </a:ln>
        </p:spPr>
      </p:sp>
      <p:sp>
        <p:nvSpPr>
          <p:cNvPr id="209" name="kpidot2"/>
          <p:cNvSpPr/>
          <p:nvPr/>
        </p:nvSpPr>
        <p:spPr>
          <a:xfrm>
            <a:off x="9751313" y="2286000"/>
            <a:ext cx="329184" cy="329184"/>
          </a:xfrm>
          <a:prstGeom prst="ellipse">
            <a:avLst/>
          </a:prstGeom>
          <a:solidFill>
            <a:srgbClr val="21201E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731520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731520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731520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551578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551578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551578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71636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71636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71636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548640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8"/>
            </a:solidFill>
          </a:ln>
        </p:spPr>
      </p:sp>
      <p:sp>
        <p:nvSpPr>
          <p:cNvPr id="203" name="cardnum0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207" name="card1"/>
          <p:cNvSpPr/>
          <p:nvPr/>
        </p:nvSpPr>
        <p:spPr>
          <a:xfrm>
            <a:off x="4368698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8"/>
            </a:solidFill>
          </a:ln>
        </p:spPr>
      </p:sp>
      <p:sp>
        <p:nvSpPr>
          <p:cNvPr id="208" name="cardnum1"/>
          <p:cNvSpPr/>
          <p:nvPr/>
        </p:nvSpPr>
        <p:spPr>
          <a:xfrm>
            <a:off x="4643018" y="2011680"/>
            <a:ext cx="548640" cy="54864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212" name="card2"/>
          <p:cNvSpPr/>
          <p:nvPr/>
        </p:nvSpPr>
        <p:spPr>
          <a:xfrm>
            <a:off x="8188756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8"/>
            </a:solidFill>
          </a:ln>
        </p:spPr>
      </p:sp>
      <p:sp>
        <p:nvSpPr>
          <p:cNvPr id="213" name="cardnum2"/>
          <p:cNvSpPr/>
          <p:nvPr/>
        </p:nvSpPr>
        <p:spPr>
          <a:xfrm>
            <a:off x="8463076" y="2011680"/>
            <a:ext cx="548640" cy="54864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822960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822960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822960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643018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643018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643018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463076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463076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463076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説明文を記入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548640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FF4D3D"/>
          </a:solidFill>
          <a:ln>
            <a:noFill/>
          </a:ln>
        </p:spPr>
      </p:sp>
      <p:sp>
        <p:nvSpPr>
          <p:cNvPr id="204" name="arrow0"/>
          <p:cNvSpPr/>
          <p:nvPr/>
        </p:nvSpPr>
        <p:spPr>
          <a:xfrm>
            <a:off x="3134791" y="3273552"/>
            <a:ext cx="237744" cy="219456"/>
          </a:xfrm>
          <a:prstGeom prst="rightArrow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90823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21201E"/>
          </a:solidFill>
          <a:ln>
            <a:noFill/>
          </a:ln>
        </p:spPr>
      </p:sp>
      <p:sp>
        <p:nvSpPr>
          <p:cNvPr id="207" name="arrow1"/>
          <p:cNvSpPr/>
          <p:nvPr/>
        </p:nvSpPr>
        <p:spPr>
          <a:xfrm>
            <a:off x="5976974" y="3273552"/>
            <a:ext cx="237744" cy="219456"/>
          </a:xfrm>
          <a:prstGeom prst="rightArrow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33006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FF4D3D"/>
          </a:solidFill>
          <a:ln>
            <a:noFill/>
          </a:ln>
        </p:spPr>
      </p:sp>
      <p:sp>
        <p:nvSpPr>
          <p:cNvPr id="210" name="arrow2"/>
          <p:cNvSpPr/>
          <p:nvPr/>
        </p:nvSpPr>
        <p:spPr>
          <a:xfrm>
            <a:off x="8819157" y="3273552"/>
            <a:ext cx="237744" cy="219456"/>
          </a:xfrm>
          <a:prstGeom prst="rightArrow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75189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685800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FFB3A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685800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685800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F1EAE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527983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FFB3A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527983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527983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F1EAE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370166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FFB3A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70166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70166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F1EAE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212349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FFB3A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212349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212349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F1EAE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1EAE0"/>
          </a:solidFill>
          <a:ln w="9525">
            <a:solidFill>
              <a:srgbClr val="D8D2C8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5486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8A8580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4922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1EAE0"/>
          </a:solidFill>
          <a:ln w="9525">
            <a:solidFill>
              <a:srgbClr val="D8D2C8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4922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FF4D3D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8229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8229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7665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7665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システム基盤更改 PoC 実施報告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次世代セキュリティアーキテクチャ検証結果のご報告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2026年7月1日</a:t>
            </a:r>
          </a:p>
          <a:p>
            <a:r>
              <a:t>プロフェッショナルサービス部</a:t>
            </a:r>
          </a:p>
          <a:p>
            <a:r>
              <a:t>作成: Takumi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背景と目的</a:t>
            </a:r>
          </a:p>
          <a:p>
            <a:r>
              <a:t>検証環境とスコープ</a:t>
            </a:r>
          </a:p>
          <a:p>
            <a:r>
              <a:t>検証結果サマリ</a:t>
            </a:r>
          </a:p>
          <a:p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現行基盤の課題</a:t>
            </a:r>
          </a:p>
          <a:p>
            <a:r>
              <a:t>既存EDRでは横展開の検知に遅延</a:t>
            </a:r>
          </a:p>
          <a:p>
            <a:r>
              <a:t>正規化コストが運用を圧迫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採用技術の比較検討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候補A: エージェント型</a:t>
            </a:r>
          </a:p>
          <a:p>
            <a:r>
              <a:t>親和性が高い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候補B: eBPF型</a:t>
            </a:r>
          </a:p>
          <a:p>
            <a:r>
              <a:t>低オーバーヘッド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検証環境アーキテクチャ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構成のポイント</a:t>
            </a:r>
          </a:p>
          <a:p>
            <a:r>
              <a:t>収集層と分析層を分離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評価結果マトリクス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◎優 / ○良 / △課題あり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検知ルールの実装例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  <a:p>
            <a:r>
              <a:t>level: high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検証結果の要点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eBPF型の有効性を確認</a:t>
            </a:r>
          </a:p>
          <a:p>
            <a:r>
              <a:t>統合は現実的工数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互換性検証</a:t>
            </a:r>
          </a:p>
          <a:p>
            <a:r>
              <a:t>提案書の作成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成果サマリ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平均検知時間の短縮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誤検知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運用ノイズの低減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統合工数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2週間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既存SIEM接続まで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アーキテクチャ構成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eBPFで可視化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分析層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SIEMへ集約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Sigmaで管理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要件定義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基準を確定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環境構築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PoC環境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検証実施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負荷を測定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STEP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評価報告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提案化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現行課題と対策方針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課題 / 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・検知に遅延</a:t>
            </a:r>
          </a:p>
          <a:p>
            <a:r>
              <a:t>・コストが高い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対策 /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・即時に検知</a:t>
            </a:r>
          </a:p>
          <a:p>
            <a:r>
              <a:t>・正規化を削減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1201E"/>
      </a:dk2>
      <a:lt2>
        <a:srgbClr val="F1EAE0"/>
      </a:lt2>
      <a:accent1>
        <a:srgbClr val="FF4D3D"/>
      </a:accent1>
      <a:accent2>
        <a:srgbClr val="21201E"/>
      </a:accent2>
      <a:accent3>
        <a:srgbClr val="8A8580"/>
      </a:accent3>
      <a:accent4>
        <a:srgbClr val="D8D2C8"/>
      </a:accent4>
      <a:accent5>
        <a:srgbClr val="FFB3AA"/>
      </a:accent5>
      <a:accent6>
        <a:srgbClr val="21201E"/>
      </a:accent6>
      <a:hlink>
        <a:srgbClr val="0000FF"/>
      </a:hlink>
      <a:folHlink>
        <a:srgbClr val="800080"/>
      </a:folHlink>
    </a:clrScheme>
    <a:fontScheme name="Office">
      <a:majorFont>
        <a:latin typeface="Yu Mincho"/>
        <a:ea typeface=""/>
        <a:cs typeface=""/>
        <a:font script="Jpan" typeface="Yu Minch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