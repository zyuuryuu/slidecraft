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inkchip"/>
          <p:cNvSpPr/>
          <p:nvPr/>
        </p:nvSpPr>
        <p:spPr>
          <a:xfrm>
            <a:off x="548640" y="3063240"/>
            <a:ext cx="457200" cy="128016"/>
          </a:xfrm>
          <a:prstGeom prst="rect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610" name="bigcircle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3383280"/>
            <a:ext cx="9692640" cy="1554480"/>
          </a:xfrm>
        </p:spPr>
        <p:txBody>
          <a:bodyPr anchor="ctr"/>
          <a:lstStyle>
            <a:lvl1pPr algn="l">
              <a:defRPr sz="5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4983480"/>
            <a:ext cx="9692640" cy="54864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600" b="0">
                <a:solidFill>
                  <a:srgbClr val="8A8580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548640" y="5989320"/>
            <a:ext cx="9692640" cy="64008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1カラム）">
  <p:cSld name="02_本文（1カラム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572000"/>
          </a:xfrm>
        </p:spPr>
        <p:txBody>
          <a:bodyPr anchor="t"/>
          <a:lstStyle>
            <a:lvl1pPr algn="l">
              <a:defRPr sz="16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0" y="2834640"/>
            <a:ext cx="5394960" cy="1371600"/>
          </a:xfrm>
        </p:spPr>
        <p:txBody>
          <a:bodyPr anchor="ctr"/>
          <a:lstStyle>
            <a:lvl1pPr algn="l">
              <a:defRPr sz="3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6035040" cy="420624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60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20" name="eyebrow"/>
          <p:cNvSpPr txBox="1"/>
          <p:nvPr/>
        </p:nvSpPr>
        <p:spPr>
          <a:xfrm>
            <a:off x="6309360" y="2286000"/>
            <a:ext cx="5394960" cy="411480"/>
          </a:xfrm>
          <a:prstGeom prst="rect">
            <a:avLst/>
          </a:prstGeom>
          <a:noFill/>
        </p:spPr>
        <p:txBody>
          <a:bodyPr wrap="square" anchor="t" lIns="0" rIns="0"/>
          <a:lstStyle/>
          <a:p>
            <a:pPr algn="l"/>
            <a:r>
              <a:rPr lang="ja-JP" sz="1300" b="1" spc="300">
                <a:solidFill>
                  <a:srgbClr val="FF4D3D"/>
                </a:solidFill>
              </a:rPr>
              <a:t>SECTION</a:t>
            </a:r>
          </a:p>
        </p:txBody>
      </p:sp>
      <p:cxnSp>
        <p:nvCxnSpPr>
          <p:cNvPr id="621" name="secline"/>
          <p:cNvCxnSpPr/>
          <p:nvPr/>
        </p:nvCxnSpPr>
        <p:spPr>
          <a:xfrm>
            <a:off x="6309360" y="4343400"/>
            <a:ext cx="1371600" cy="0"/>
          </a:xfrm>
          <a:prstGeom prst="line">
            <a:avLst/>
          </a:prstGeom>
          <a:ln w="15875">
            <a:solidFill>
              <a:srgbClr val="21201E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coldiv"/>
          <p:cNvSpPr/>
          <p:nvPr/>
        </p:nvSpPr>
        <p:spPr>
          <a:xfrm>
            <a:off x="6080760" y="1783080"/>
            <a:ext cx="10058" cy="420624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latin typeface="Yu Gothic"/>
                <a:ea typeface="Yu Gothic"/>
                <a:cs typeface="Yu Gothic"/>
                <a:solidFill>
                  <a:srgbClr val="FF4D3D"/>
                </a:solidFill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400" b="0">
                <a:solidFill>
                  <a:srgbClr val="F5EFE5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8A8580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注記（任意）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solidFill>
            <a:srgbClr val="FAF7F2"/>
          </a:solidFill>
          <a:ln w="9525">
            <a:solidFill>
              <a:srgbClr val="D8D2C8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676656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0" y="1554480"/>
            <a:ext cx="4023360" cy="457200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sp>
        <p:nvSpPr>
          <p:cNvPr id="101" name="codebox"/>
          <p:cNvSpPr/>
          <p:nvPr/>
        </p:nvSpPr>
        <p:spPr>
          <a:xfrm>
            <a:off x="0" y="1627632"/>
            <a:ext cx="12191695" cy="4041648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548640" y="1828800"/>
            <a:ext cx="11094415" cy="365760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F5EFE5"/>
                </a:solidFill>
                <a:latin typeface="Consolas"/>
                <a:ea typeface="Yu Gothic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548640" y="5806440"/>
            <a:ext cx="11094415" cy="502920"/>
          </a:xfrm>
        </p:spPr>
        <p:txBody>
          <a:bodyPr wrap="square" anchor="ctr" lIns="0" rIns="0"/>
          <a:lstStyle>
            <a:lvl1pPr algn="l" marL="0" indent="0">
              <a:buNone/>
              <a:defRPr sz="1100" b="0">
                <a:solidFill>
                  <a:srgbClr val="8A8580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548640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548640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548640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368698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368698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368698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188756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188756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188756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cxnSp>
        <p:nvCxnSpPr>
          <p:cNvPr id="640" name="kpirule0"/>
          <p:cNvCxnSpPr/>
          <p:nvPr/>
        </p:nvCxnSpPr>
        <p:spPr>
          <a:xfrm>
            <a:off x="548640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  <p:cxnSp>
        <p:nvCxnSpPr>
          <p:cNvPr id="641" name="kpirule1"/>
          <p:cNvCxnSpPr/>
          <p:nvPr/>
        </p:nvCxnSpPr>
        <p:spPr>
          <a:xfrm>
            <a:off x="4368698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  <p:cxnSp>
        <p:nvCxnSpPr>
          <p:cNvPr id="642" name="kpirule2"/>
          <p:cNvCxnSpPr/>
          <p:nvPr/>
        </p:nvCxnSpPr>
        <p:spPr>
          <a:xfrm>
            <a:off x="8188756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548640" y="1920240"/>
            <a:ext cx="3454298" cy="777240"/>
          </a:xfrm>
        </p:spPr>
        <p:txBody>
          <a:bodyPr wrap="square" anchor="ctr" lIns="0" rIns="0"/>
          <a:lstStyle>
            <a:lvl1pPr algn="l" marL="0" indent="0">
              <a:buNone/>
              <a:defRPr sz="40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548640" y="2743200"/>
            <a:ext cx="3454298" cy="502920"/>
          </a:xfrm>
        </p:spPr>
        <p:txBody>
          <a:bodyPr wrap="square" anchor="t" lIns="0" rIns="0"/>
          <a:lstStyle>
            <a:lvl1pPr algn="l" marL="0" indent="0">
              <a:buNone/>
              <a:defRPr sz="20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548640" y="3291840"/>
            <a:ext cx="3454298" cy="21945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368698" y="1920240"/>
            <a:ext cx="3454298" cy="777240"/>
          </a:xfrm>
        </p:spPr>
        <p:txBody>
          <a:bodyPr wrap="square" anchor="ctr" lIns="0" rIns="0"/>
          <a:lstStyle>
            <a:lvl1pPr algn="l" marL="0" indent="0">
              <a:buNone/>
              <a:defRPr sz="40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368698" y="2743200"/>
            <a:ext cx="3454298" cy="502920"/>
          </a:xfrm>
        </p:spPr>
        <p:txBody>
          <a:bodyPr wrap="square" anchor="t" lIns="0" rIns="0"/>
          <a:lstStyle>
            <a:lvl1pPr algn="l" marL="0" indent="0">
              <a:buNone/>
              <a:defRPr sz="20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368698" y="3291840"/>
            <a:ext cx="3454298" cy="21945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188756" y="1920240"/>
            <a:ext cx="3454298" cy="777240"/>
          </a:xfrm>
        </p:spPr>
        <p:txBody>
          <a:bodyPr wrap="square" anchor="ctr" lIns="0" rIns="0"/>
          <a:lstStyle>
            <a:lvl1pPr algn="l" marL="0" indent="0">
              <a:buNone/>
              <a:defRPr sz="40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188756" y="2743200"/>
            <a:ext cx="3454298" cy="502920"/>
          </a:xfrm>
        </p:spPr>
        <p:txBody>
          <a:bodyPr wrap="square" anchor="t" lIns="0" rIns="0"/>
          <a:lstStyle>
            <a:lvl1pPr algn="l" marL="0" indent="0">
              <a:buNone/>
              <a:defRPr sz="20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188756" y="3291840"/>
            <a:ext cx="3454298" cy="21945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cxnSp>
        <p:nvCxnSpPr>
          <p:cNvPr id="650" name="cardrule0"/>
          <p:cNvCxnSpPr/>
          <p:nvPr/>
        </p:nvCxnSpPr>
        <p:spPr>
          <a:xfrm>
            <a:off x="548640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651" name="cardrule1"/>
          <p:cNvCxnSpPr/>
          <p:nvPr/>
        </p:nvCxnSpPr>
        <p:spPr>
          <a:xfrm>
            <a:off x="4368698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652" name="cardrule2"/>
          <p:cNvCxnSpPr/>
          <p:nvPr/>
        </p:nvCxnSpPr>
        <p:spPr>
          <a:xfrm>
            <a:off x="8188756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548640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548640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548640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390823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390823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390823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233006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233006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233006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075189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075189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075189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cxnSp>
        <p:nvCxnSpPr>
          <p:cNvPr id="660" name="timeline"/>
          <p:cNvCxnSpPr/>
          <p:nvPr/>
        </p:nvCxnSpPr>
        <p:spPr>
          <a:xfrm>
            <a:off x="548640" y="3154680"/>
            <a:ext cx="11094415" cy="0"/>
          </a:xfrm>
          <a:prstGeom prst="line">
            <a:avLst/>
          </a:prstGeom>
          <a:ln w="12700">
            <a:solidFill>
              <a:srgbClr val="21201E"/>
            </a:solidFill>
          </a:ln>
        </p:spPr>
      </p:cxnSp>
      <p:sp>
        <p:nvSpPr>
          <p:cNvPr id="661" name="dot0"/>
          <p:cNvSpPr/>
          <p:nvPr/>
        </p:nvSpPr>
        <p:spPr>
          <a:xfrm>
            <a:off x="1731987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2" name="dot1"/>
          <p:cNvSpPr/>
          <p:nvPr/>
        </p:nvSpPr>
        <p:spPr>
          <a:xfrm>
            <a:off x="4574170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3" name="dot2"/>
          <p:cNvSpPr/>
          <p:nvPr/>
        </p:nvSpPr>
        <p:spPr>
          <a:xfrm>
            <a:off x="7416353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4" name="dot3"/>
          <p:cNvSpPr/>
          <p:nvPr/>
        </p:nvSpPr>
        <p:spPr>
          <a:xfrm>
            <a:off x="10258536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440680" cy="4389120"/>
          </a:xfrm>
          <a:prstGeom prst="roundRect">
            <a:avLst>
              <a:gd name="adj" fmla="val 4000"/>
            </a:avLst>
          </a:prstGeom>
          <a:solidFill>
            <a:srgbClr val="21201E"/>
          </a:solidFill>
          <a:ln w="0">
            <a:solidFill>
              <a:srgbClr val="21201E"/>
            </a:solidFill>
          </a:ln>
        </p:spPr>
      </p:sp>
      <p:sp>
        <p:nvSpPr>
          <p:cNvPr id="207" name="solbox"/>
          <p:cNvSpPr/>
          <p:nvPr/>
        </p:nvSpPr>
        <p:spPr>
          <a:xfrm>
            <a:off x="6217920" y="1645920"/>
            <a:ext cx="5440680" cy="4389120"/>
          </a:xfrm>
          <a:prstGeom prst="roundRect">
            <a:avLst>
              <a:gd name="adj" fmla="val 4000"/>
            </a:avLst>
          </a:prstGeom>
          <a:solidFill>
            <a:srgbClr val="FF4D3D"/>
          </a:solidFill>
          <a:ln w="0">
            <a:solidFill>
              <a:srgbClr val="FF4D3D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914400" y="1965960"/>
            <a:ext cx="4709160" cy="548640"/>
          </a:xfrm>
        </p:spPr>
        <p:txBody>
          <a:bodyPr wrap="square" anchor="ctr" lIns="0" rIns="0"/>
          <a:lstStyle>
            <a:lvl1pPr algn="l" marL="0" indent="0">
              <a:buNone/>
              <a:defRPr sz="18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914400" y="2651760"/>
            <a:ext cx="4709160" cy="3017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583680" y="1965960"/>
            <a:ext cx="4709160" cy="548640"/>
          </a:xfrm>
        </p:spPr>
        <p:txBody>
          <a:bodyPr wrap="square" anchor="ctr" lIns="0" rIns="0"/>
          <a:lstStyle>
            <a:lvl1pPr algn="l" marL="0" indent="0"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583680" y="2651760"/>
            <a:ext cx="4709160" cy="3017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システム基盤更改 PoC 実施報告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次世代セキュリティアーキテクチャ検証結果のご報告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2026年7月1日</a:t>
            </a:r>
          </a:p>
          <a:p>
            <a:r>
              <a:t>プロフェッショナルサービス部</a:t>
            </a:r>
          </a:p>
          <a:p>
            <a:r>
              <a:t>作成: Takumi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背景と目的</a:t>
            </a:r>
          </a:p>
          <a:p>
            <a:r>
              <a:t>検証環境とスコープ</a:t>
            </a:r>
          </a:p>
          <a:p>
            <a:r>
              <a:t>検証結果サマリ</a:t>
            </a:r>
          </a:p>
          <a:p>
            <a: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背景と目的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現行基盤の課題</a:t>
            </a:r>
          </a:p>
          <a:p>
            <a:r>
              <a:t>既存EDRでは横展開の検知に遅延</a:t>
            </a:r>
          </a:p>
          <a:p>
            <a:r>
              <a:t>正規化コストが運用を圧迫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採用技術の比較検討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候補A: エージェント型</a:t>
            </a:r>
          </a:p>
          <a:p>
            <a:r>
              <a:t>親和性が高い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候補B: eBPF型</a:t>
            </a:r>
          </a:p>
          <a:p>
            <a:r>
              <a:t>低オーバーヘッド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検証環境アーキテクチャ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構成のポイント</a:t>
            </a:r>
          </a:p>
          <a:p>
            <a:r>
              <a:t>収集層と分析層を分離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評価結果マトリクス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◎優 / ○良 / △課題あり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検知ルールの実装例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- selection:</a:t>
            </a:r>
          </a:p>
          <a:p>
            <a:r>
              <a:t>    EventID: 4688</a:t>
            </a:r>
          </a:p>
          <a:p>
            <a:r>
              <a:t>  condition: selection</a:t>
            </a:r>
          </a:p>
          <a:p>
            <a:r>
              <a:t>level: high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Sigma形式の検知ルール例。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検証結果の要点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eBPF型の有効性を確認</a:t>
            </a:r>
          </a:p>
          <a:p>
            <a:r>
              <a:t>統合は現実的工数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互換性検証</a:t>
            </a:r>
          </a:p>
          <a:p>
            <a:r>
              <a:t>提案書の作成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成果サマリ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MTTD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平均検知時間の短縮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誤検知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運用ノイズの低減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統合工数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2週間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既存SIEM接続まで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アーキテクチャ構成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収集層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eBPFで可視化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分析層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SIEMへ集約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運用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Sigmaで管理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要件定義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基準を確定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STEP 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環境構築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PoC環境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STEP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検証実施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負荷を測定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STEP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評価報告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提案化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現行課題と対策方針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課題 / Before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・検知に遅延</a:t>
            </a:r>
          </a:p>
          <a:p>
            <a:r>
              <a:t>・コストが高い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対策 /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・即時に検知</a:t>
            </a:r>
          </a:p>
          <a:p>
            <a:r>
              <a:t>・正規化を削減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1201E"/>
      </a:dk2>
      <a:lt2>
        <a:srgbClr val="F1EAE0"/>
      </a:lt2>
      <a:accent1>
        <a:srgbClr val="FF4D3D"/>
      </a:accent1>
      <a:accent2>
        <a:srgbClr val="21201E"/>
      </a:accent2>
      <a:accent3>
        <a:srgbClr val="8A8580"/>
      </a:accent3>
      <a:accent4>
        <a:srgbClr val="D8D2C8"/>
      </a:accent4>
      <a:accent5>
        <a:srgbClr val="FFB3AA"/>
      </a:accent5>
      <a:accent6>
        <a:srgbClr val="21201E"/>
      </a:accent6>
      <a:hlink>
        <a:srgbClr val="0000FF"/>
      </a:hlink>
      <a:folHlink>
        <a:srgbClr val="800080"/>
      </a:folHlink>
    </a:clrScheme>
    <a:fontScheme name="Office">
      <a:majorFont>
        <a:latin typeface="Yu Mincho"/>
        <a:ea typeface=""/>
        <a:cs typeface=""/>
        <a:font script="Jpan" typeface="Yu Minch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